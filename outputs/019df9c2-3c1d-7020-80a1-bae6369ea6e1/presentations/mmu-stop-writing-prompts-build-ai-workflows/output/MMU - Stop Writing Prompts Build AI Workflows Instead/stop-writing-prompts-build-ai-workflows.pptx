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0b5d0c90e84ea8" /><Relationship Type="http://schemas.openxmlformats.org/officeDocument/2006/relationships/extended-properties" Target="/docProps/app.xml" Id="Raf76e2991f88461e" /><Relationship Type="http://schemas.openxmlformats.org/officeDocument/2006/relationships/officeDocument" Target="/ppt/presentation.xml" Id="Rf221352133034c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f6a59480824648"/>
  </p:sldMasterIdLst>
  <p:notesMasterIdLst>
    <p:notesMasterId xmlns:r="http://schemas.openxmlformats.org/officeDocument/2006/relationships" r:id="R4c413316ce174c43"/>
  </p:notesMasterIdLst>
  <p:sldIdLst>
    <p:sldId xmlns:r="http://schemas.openxmlformats.org/officeDocument/2006/relationships" id="256" r:id="R30cc4c6ac1ac4a88"/>
    <p:sldId xmlns:r="http://schemas.openxmlformats.org/officeDocument/2006/relationships" id="257" r:id="R5a46167439424f28"/>
    <p:sldId xmlns:r="http://schemas.openxmlformats.org/officeDocument/2006/relationships" id="258" r:id="Rc5ab2688285541c7"/>
    <p:sldId xmlns:r="http://schemas.openxmlformats.org/officeDocument/2006/relationships" id="259" r:id="Rd6b8f8f18d9c4ac4"/>
    <p:sldId xmlns:r="http://schemas.openxmlformats.org/officeDocument/2006/relationships" id="260" r:id="R7eb3690a9ca246c5"/>
    <p:sldId xmlns:r="http://schemas.openxmlformats.org/officeDocument/2006/relationships" id="261" r:id="Rc8436ae7aacc4b59"/>
    <p:sldId xmlns:r="http://schemas.openxmlformats.org/officeDocument/2006/relationships" id="262" r:id="R31469aa3fccd4628"/>
    <p:sldId xmlns:r="http://schemas.openxmlformats.org/officeDocument/2006/relationships" id="263" r:id="R8da63604fd3f44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f6a59480824648" /><Relationship Type="http://schemas.openxmlformats.org/officeDocument/2006/relationships/theme" Target="/ppt/theme/theme1.xml" Id="Rb6ce410ed00643b9" /><Relationship Type="http://schemas.openxmlformats.org/officeDocument/2006/relationships/notesMaster" Target="/ppt/notesMasters/notesMaster1.xml" Id="R4c413316ce174c43" /><Relationship Type="http://schemas.openxmlformats.org/officeDocument/2006/relationships/presProps" Target="/ppt/presProps.xml" Id="Rb39f790a3ef94310" /><Relationship Type="http://schemas.openxmlformats.org/officeDocument/2006/relationships/viewProps" Target="/ppt/viewProps.xml" Id="Rcd35108053cd4a15" /><Relationship Type="http://schemas.openxmlformats.org/officeDocument/2006/relationships/tableStyles" Target="/ppt/tableStyles.xml" Id="R74948c48a7874d60" /><Relationship Type="http://schemas.openxmlformats.org/officeDocument/2006/relationships/slide" Target="/ppt/slides/slide1.xml" Id="R30cc4c6ac1ac4a88" /><Relationship Type="http://schemas.openxmlformats.org/officeDocument/2006/relationships/slide" Target="/ppt/slides/slide2.xml" Id="R5a46167439424f28" /><Relationship Type="http://schemas.openxmlformats.org/officeDocument/2006/relationships/slide" Target="/ppt/slides/slide3.xml" Id="Rc5ab2688285541c7" /><Relationship Type="http://schemas.openxmlformats.org/officeDocument/2006/relationships/slide" Target="/ppt/slides/slide4.xml" Id="Rd6b8f8f18d9c4ac4" /><Relationship Type="http://schemas.openxmlformats.org/officeDocument/2006/relationships/slide" Target="/ppt/slides/slide5.xml" Id="R7eb3690a9ca246c5" /><Relationship Type="http://schemas.openxmlformats.org/officeDocument/2006/relationships/slide" Target="/ppt/slides/slide6.xml" Id="Rc8436ae7aacc4b59" /><Relationship Type="http://schemas.openxmlformats.org/officeDocument/2006/relationships/slide" Target="/ppt/slides/slide7.xml" Id="R31469aa3fccd4628" /><Relationship Type="http://schemas.openxmlformats.org/officeDocument/2006/relationships/slide" Target="/ppt/slides/slide8.xml" Id="R8da63604fd3f44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448cda76ef24a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e1772dcc8f40e2" /><Relationship Type="http://schemas.openxmlformats.org/officeDocument/2006/relationships/notesMaster" Target="/ppt/notesMasters/notesMaster1.xml" Id="R5150dfc3d64f47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6a260901904a87" /><Relationship Type="http://schemas.openxmlformats.org/officeDocument/2006/relationships/notesMaster" Target="/ppt/notesMasters/notesMaster1.xml" Id="R1d4a7c675f0f40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2651c1b51347bd" /><Relationship Type="http://schemas.openxmlformats.org/officeDocument/2006/relationships/notesMaster" Target="/ppt/notesMasters/notesMaster1.xml" Id="Rd26a0dc27c7f49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a7b1697c2147b3" /><Relationship Type="http://schemas.openxmlformats.org/officeDocument/2006/relationships/notesMaster" Target="/ppt/notesMasters/notesMaster1.xml" Id="Ra0ecc97a79ff47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bd5bcc94784b11" /><Relationship Type="http://schemas.openxmlformats.org/officeDocument/2006/relationships/notesMaster" Target="/ppt/notesMasters/notesMaster1.xml" Id="Raf6fbca7003949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6d98bc303f41bf" /><Relationship Type="http://schemas.openxmlformats.org/officeDocument/2006/relationships/notesMaster" Target="/ppt/notesMasters/notesMaster1.xml" Id="R6d5d183e1eab44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06aa075c2c4c45" /><Relationship Type="http://schemas.openxmlformats.org/officeDocument/2006/relationships/notesMaster" Target="/ppt/notesMasters/notesMaster1.xml" Id="R430c70261b4a43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2e2ffeeb7f4df6" /><Relationship Type="http://schemas.openxmlformats.org/officeDocument/2006/relationships/notesMaster" Target="/ppt/notesMasters/notesMaster1.xml" Id="Rfb6781de2dc146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947432ff6041c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bc05392c9e6453b" /><Relationship Type="http://schemas.openxmlformats.org/officeDocument/2006/relationships/slideLayout" Target="/ppt/slideLayouts/slideLayout2.xml" Id="Ra3527daa76a042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527daa76a042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a1f2e440ee4cbe" /><Relationship Type="http://schemas.openxmlformats.org/officeDocument/2006/relationships/notesSlide" Target="/ppt/notesSlides/notesSlide1.xml" Id="Ref01a608613f45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b02cc58e17406b" /><Relationship Type="http://schemas.openxmlformats.org/officeDocument/2006/relationships/notesSlide" Target="/ppt/notesSlides/notesSlide2.xml" Id="R83d29af4e6bd4f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553c019a5a4079" /><Relationship Type="http://schemas.openxmlformats.org/officeDocument/2006/relationships/notesSlide" Target="/ppt/notesSlides/notesSlide3.xml" Id="Rc3aeda8964874d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8abf2d27be4b59" /><Relationship Type="http://schemas.openxmlformats.org/officeDocument/2006/relationships/notesSlide" Target="/ppt/notesSlides/notesSlide4.xml" Id="R19e1f7dd8d2a41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3163a6912d4665" /><Relationship Type="http://schemas.openxmlformats.org/officeDocument/2006/relationships/notesSlide" Target="/ppt/notesSlides/notesSlide5.xml" Id="R8f74aa728b124d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f2276a837a4afb" /><Relationship Type="http://schemas.openxmlformats.org/officeDocument/2006/relationships/notesSlide" Target="/ppt/notesSlides/notesSlide6.xml" Id="R6536316634c045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865ba88d19432e" /><Relationship Type="http://schemas.openxmlformats.org/officeDocument/2006/relationships/notesSlide" Target="/ppt/notesSlides/notesSlide7.xml" Id="Rebddc9ba1aac48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636760c54843db" /><Relationship Type="http://schemas.openxmlformats.org/officeDocument/2006/relationships/notesSlide" Target="/ppt/notesSlides/notesSlide8.xml" Id="R84962fc6cef1475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A36F53-7C29-4517-90DD-3BA05BEA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276DD-245B-4173-9846-D7443915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143000"/>
            <a:ext cx="4762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E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C86CD-AAE8-4076-BF46-45883798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D2B32-FB8E-4B30-AFD3-BD67D40A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1D11B7B-880A-413C-9E70-2A415972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MONARC UNIVERSITY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6D493-E25C-47BB-919E-E2B29FFE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7239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5F8FB"/>
                </a:solidFill>
                <a:latin typeface="Georgia"/>
                <a:ea typeface="Georgia"/>
                <a:cs typeface="Georgia"/>
              </a:defRPr>
            </a:pPr>
            <a:r>
              <a:rPr sz="4200" b="1">
                <a:solidFill>
                  <a:srgbClr val="F5F8FB"/>
                </a:solidFill>
                <a:latin typeface="Georgia"/>
                <a:ea typeface="Georgia"/>
                <a:cs typeface="Georgia"/>
              </a:rPr>
              <a:t>Stop writing prompts. Build AI workflows instead.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F41D6-D8E9-4FB3-BE9C-CD44C5D4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670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6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94A6B8"/>
                </a:solidFill>
                <a:latin typeface="Avenir Next"/>
                <a:ea typeface="Avenir Next"/>
                <a:cs typeface="Avenir Next"/>
              </a:rPr>
              <a:t>A 6-8 minute teaching video that reframes AI from one-off commands into repeatable systems people can use for business, content, clients, and career growth.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3C4EC-85A7-43B9-A687-DAC1FA25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2395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A609B-2CBD-4982-BFC9-64E197AB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906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VIDEO PACKAGE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E3F65-9E15-4245-A4E8-F2018855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6435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3AD8D-1F85-44A8-996C-74516424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7642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Audience: beginners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94F11-C1E4-43EE-AAAC-22C33BEF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479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6435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395BE3-A83C-44BD-AA29-849021AC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Offer: founding cohort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92350-9007-426F-B2C5-BF8F3428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051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643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35C84F-EBA9-49AD-B5D6-0EBC2A15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CTA: apply now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3C7555-6BE7-40AB-AD24-AF742DD1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B59F1-4D5F-49A3-BB25-F6DB3089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The shift: prompts are moments. Workflows are assets.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6307E0-4462-4CA5-B683-56ED2B03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- Video Package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BC281A-FFDA-40A4-99EF-35E66CF1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516787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414D9B-FC7C-4483-8AE3-CB128DFF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7F505-03DD-478E-9866-B2D43D9E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143000"/>
            <a:ext cx="4762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E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16476-5BB6-4146-AD0A-502A75AB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A0EF1-F015-48E2-960D-4DED52CC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0C5F86B-6250-423D-9354-AD76AE01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14859-4310-4735-A98D-FC395155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7239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8FB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F5F8FB"/>
                </a:solidFill>
                <a:latin typeface="Georgia"/>
                <a:ea typeface="Georgia"/>
                <a:cs typeface="Georgia"/>
              </a:rPr>
              <a:t>Most people are collecting prompts instead of building systems.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4CB38-005D-4B13-8278-7B1265ED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590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6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94A6B8"/>
                </a:solidFill>
                <a:latin typeface="Avenir Next"/>
                <a:ea typeface="Avenir Next"/>
                <a:cs typeface="Avenir Next"/>
              </a:rPr>
              <a:t>Prompt collecting feels productive, but it usually creates a folder full of disconnected commands.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E9C99-83AA-42BA-86A0-64756D0F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0F12"/>
          </a:solidFill>
          <a:ln xmlns:a="http://schemas.openxmlformats.org/drawingml/2006/main" w="9525">
            <a:solidFill>
              <a:srgbClr val="5531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C8B78-FF2F-4554-87DA-BE8FF207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466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969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6969"/>
                </a:solidFill>
                <a:latin typeface="Avenir Next"/>
                <a:ea typeface="Avenir Next"/>
                <a:cs typeface="Avenir Next"/>
              </a:rPr>
              <a:t>Random 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3D264-3D10-449F-9058-96F76891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7645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• Works once</a:t>
            </a:r>
          </a:p>
          <a:p xmlns:a="http://schemas.openxmlformats.org/drawingml/2006/main">
            <a:pPr algn="l">
              <a:defRPr sz="1500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• No context memory</a:t>
            </a:r>
          </a:p>
          <a:p xmlns:a="http://schemas.openxmlformats.org/drawingml/2006/main">
            <a:pPr algn="l">
              <a:defRPr sz="1500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• No repeatable quality</a:t>
            </a:r>
          </a:p>
          <a:p xmlns:a="http://schemas.openxmlformats.org/drawingml/2006/main">
            <a:pPr algn="l">
              <a:defRPr sz="1500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• Hard to hand off</a:t>
            </a:r>
          </a:p>
          <a:p xmlns:a="http://schemas.openxmlformats.org/drawingml/2006/main">
            <a:pPr algn="l">
              <a:defRPr sz="1500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• Easy to forget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556FE-26CD-446B-BBE8-9E4B65E4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523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435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5E8AD-13B5-4135-BE22-A2C47502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Audience pain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623E4-5640-4F18-8921-98F85E1A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“I know AI can help, but I do not know how to make it reliable.”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34E5F-D0CD-4492-B0A4-6974E886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- Video Package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B82B9-31F7-4591-BC06-6C928383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0303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44C72A-502B-43E6-AB8C-B3C657B3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B0831-5596-4C38-BB09-0AE427C8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143000"/>
            <a:ext cx="4762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E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86AC9-4385-425B-B32F-7193DDD5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A7FB6-1174-4107-AB19-92534F83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D2388EF-8ACB-4AC2-AA66-A4189145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THE REFRAME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9642D-0452-4F79-8E71-E22DA789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7810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F8FB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F5F8FB"/>
                </a:solidFill>
                <a:latin typeface="Georgia"/>
                <a:ea typeface="Georgia"/>
                <a:cs typeface="Georgia"/>
              </a:rPr>
              <a:t>A workflow turns AI into a repeatable business asset.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413EB-4895-46D6-92B9-FCB3072C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752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435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EB1BD-2D33-4565-AC90-BDFF8C5A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45955-03F2-4E33-BB92-D3EBAACD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6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4A6B8"/>
                </a:solidFill>
                <a:latin typeface="Avenir Next"/>
                <a:ea typeface="Avenir Next"/>
                <a:cs typeface="Avenir Next"/>
              </a:rPr>
              <a:t>What information does AI need?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A6AB04-FA66-43DB-B051-2B781B0D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81300"/>
            <a:ext cx="1752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435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22540-837C-485B-A1A6-9DCB1E69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5B0BC-7F2F-4A89-87EA-492A708A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480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6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4A6B8"/>
                </a:solidFill>
                <a:latin typeface="Avenir Next"/>
                <a:ea typeface="Avenir Next"/>
                <a:cs typeface="Avenir Next"/>
              </a:rPr>
              <a:t>What rules, voice, examples, or sources matter?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C68B9-8EE1-4F22-90BB-E66E98FD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81300"/>
            <a:ext cx="1752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19050">
            <a:solidFill>
              <a:srgbClr val="00A6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3CC03-77FF-43CC-81E3-1E94C189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289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CF18E-C6D0-4FDB-897E-DE502969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480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6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4A6B8"/>
                </a:solidFill>
                <a:latin typeface="Avenir Next"/>
                <a:ea typeface="Avenir Next"/>
                <a:cs typeface="Avenir Next"/>
              </a:rPr>
              <a:t>What steps should AI follow every time?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29F9F-BF3B-4B3C-9601-6AE8B102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81300"/>
            <a:ext cx="1752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435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ABF29A-C95B-4867-AF91-A3B7E175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289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203CE-5438-4382-AC5B-A47ADA28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480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6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4A6B8"/>
                </a:solidFill>
                <a:latin typeface="Avenir Next"/>
                <a:ea typeface="Avenir Next"/>
                <a:cs typeface="Avenir Next"/>
              </a:rPr>
              <a:t>What format should the answer come back in?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E6B9D8-9255-4A05-A72B-8D100810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81300"/>
            <a:ext cx="1752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435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2B284D-FB36-4222-A65A-8D6FF117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289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DEFE63-0CDD-4BC3-890B-809A51BD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480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6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4A6B8"/>
                </a:solidFill>
                <a:latin typeface="Avenir Next"/>
                <a:ea typeface="Avenir Next"/>
                <a:cs typeface="Avenir Next"/>
              </a:rPr>
              <a:t>What does a human check before using it?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3BA5A-2C1E-4349-9C54-63106AD8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876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This is the core Monarc University shift: learn AI as a system design skill, not a prompt scavenger hunt.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0AB2D-2B85-4B9B-AD38-88C9DE6C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- Video Package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359DA6-0FAC-4EF7-A4BB-A924AFEA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742132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998FDD-0449-43C8-B42F-FE098230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EDE76-DD50-49DB-B4B0-CD0112CE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143000"/>
            <a:ext cx="4762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E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395A2-1E6A-4805-B72D-C8702873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58F0D-0603-4251-8044-865B8D69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2136824-2D8E-4F77-B50D-2EA6CADD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THE 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07556-FEDF-4B0E-A3D9-B06D50DE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7429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F8FB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F5F8FB"/>
                </a:solidFill>
                <a:latin typeface="Georgia"/>
                <a:ea typeface="Georgia"/>
                <a:cs typeface="Georgia"/>
              </a:rPr>
              <a:t>Use the five-part workflow prompt.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88023-6747-43B4-860C-0DD482DF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3257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435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6A97E-7971-4748-AFD5-66B1948C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E8E70-92EC-4E1F-8A95-3139A22B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52700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FB10E-FFFA-4255-B8B2-60D39667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876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6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4A6B8"/>
                </a:solidFill>
                <a:latin typeface="Avenir Next"/>
                <a:ea typeface="Avenir Next"/>
                <a:cs typeface="Avenir Next"/>
              </a:rPr>
              <a:t>Tell AI who it is acting as and what standard it should use.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1743B-5CDC-4D73-9F82-6AC503C1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3257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435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B6F3A-EE85-4EC9-9CE8-3553CFBF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E67046-CFE6-4DF3-B1F7-053B71B1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52700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AE19B-31C2-4CBC-B881-3728446B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33700"/>
            <a:ext cx="2876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6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4A6B8"/>
                </a:solidFill>
                <a:latin typeface="Avenir Next"/>
                <a:ea typeface="Avenir Next"/>
                <a:cs typeface="Avenir Next"/>
              </a:rPr>
              <a:t>Give background, audience, constraints, examples, and source material.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AB5C2-E5D6-48AC-AC3D-33B62FC1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257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435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4E88D2-BCD7-4520-BDB3-BF82A0A2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1C513-A757-4C33-A58C-AE5B33D1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52700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Task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D9D25-9482-447E-9C26-256E77CC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33700"/>
            <a:ext cx="2876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6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4A6B8"/>
                </a:solidFill>
                <a:latin typeface="Avenir Next"/>
                <a:ea typeface="Avenir Next"/>
                <a:cs typeface="Avenir Next"/>
              </a:rPr>
              <a:t>State the job clearly: analyze, draft, score, summarize, plan, or rewrite.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79EC1C-C63C-4EA0-9AF4-90453A44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14800"/>
            <a:ext cx="3257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435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27A29-FCD6-4952-BFC6-A374B97E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8625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EDEA89-9111-4228-B439-63743F5E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86250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Format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E6DAED-70A2-4C7A-ABDA-46ADFBC2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67250"/>
            <a:ext cx="2876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6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4A6B8"/>
                </a:solidFill>
                <a:latin typeface="Avenir Next"/>
                <a:ea typeface="Avenir Next"/>
                <a:cs typeface="Avenir Next"/>
              </a:rPr>
              <a:t>Define the exact structure: bullets, table, script, JSON, checklist, or brief.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6A557D-206F-4922-B011-39FA2095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3257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4354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0DA114-B453-4AEA-A625-71AFD9F2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8625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C02FDA-2FBF-4CE1-88E6-49CE8092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86250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48B9A6-E4BD-495F-8E33-8F291B7C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2876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6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4A6B8"/>
                </a:solidFill>
                <a:latin typeface="Avenir Next"/>
                <a:ea typeface="Avenir Next"/>
                <a:cs typeface="Avenir Next"/>
              </a:rPr>
              <a:t>Ask it to check gaps, risks, assumptions, and ways to improve the result.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4DA77A-E7F9-4128-A6FD-CEDF381E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- Video Package 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9100EC-D7A7-417B-AC9C-AA67B0C1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421604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5D09F8-8FAA-4EC7-BB36-13C4489D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EA848-2AE7-4C23-9872-31C14EF6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143000"/>
            <a:ext cx="4762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E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9F820-2A2F-4592-94DA-50680AA3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88C74-6800-4934-B31E-532862D5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AF0A4B2-222A-4C43-8D4D-AE357F8C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FD652-CAEF-4281-AD15-D6CA0CEE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191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8FB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5F8FB"/>
                </a:solidFill>
                <a:latin typeface="Georgia"/>
                <a:ea typeface="Georgia"/>
                <a:cs typeface="Georgia"/>
              </a:rPr>
              <a:t>Turn content creation into a workflow, not a blank page.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8874F-5111-4F44-80F3-920022AE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40957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0F12"/>
          </a:solidFill>
          <a:ln xmlns:a="http://schemas.openxmlformats.org/drawingml/2006/main" w="9525">
            <a:solidFill>
              <a:srgbClr val="5531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C3835-0981-4E4A-BD3B-EB566163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969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6969"/>
                </a:solidFill>
                <a:latin typeface="Avenir Next"/>
                <a:ea typeface="Avenir Next"/>
                <a:cs typeface="Avenir Next"/>
              </a:rPr>
              <a:t>Weak 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53E0D-EBD9-48A9-8ACE-5EEAF63D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5F8FB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F5F8FB"/>
                </a:solidFill>
                <a:latin typeface="Georgia"/>
                <a:ea typeface="Georgia"/>
                <a:cs typeface="Georgia"/>
              </a:rPr>
              <a:t>“Write me a YouTube script about AI.”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2BE31-D65D-4050-A528-4B6D8257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4762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55FDA-9573-4477-9F7D-54B5258F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Workflow 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67DB4-6972-4C0B-AEE8-03ED921D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3714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1. Define the viewer</a:t>
            </a:r>
          </a:p>
          <a:p xmlns:a="http://schemas.openxmlformats.org/drawingml/2006/main">
            <a:pPr algn="l">
              <a:defRPr sz="1575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2. Pick one painful problem</a:t>
            </a:r>
          </a:p>
          <a:p xmlns:a="http://schemas.openxmlformats.org/drawingml/2006/main">
            <a:pPr algn="l">
              <a:defRPr sz="1575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3. Write 5 hooks</a:t>
            </a:r>
          </a:p>
          <a:p xmlns:a="http://schemas.openxmlformats.org/drawingml/2006/main">
            <a:pPr algn="l">
              <a:defRPr sz="1575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4. Build a 7-minute script</a:t>
            </a:r>
          </a:p>
          <a:p xmlns:a="http://schemas.openxmlformats.org/drawingml/2006/main">
            <a:pPr algn="l">
              <a:defRPr sz="1575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5. Pull 3 Shorts cutdowns</a:t>
            </a:r>
          </a:p>
          <a:p xmlns:a="http://schemas.openxmlformats.org/drawingml/2006/main">
            <a:pPr algn="l">
              <a:defRPr sz="1575" b="0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6. Create title and thumbnail angles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18E14-DF44-4113-A4DD-DDAC9C04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- Video Package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87119-6406-425F-8851-B71507A4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82450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16F229-7807-42B0-ACCE-20ECC0F3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99281-1427-4110-9DE5-F7631657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143000"/>
            <a:ext cx="4762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E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A4E47-C103-47CC-8A81-22B64613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DA4DB-65EE-4AC9-98A0-ED7AF265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F716272-8EB0-4DE3-83D3-2E701D04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WHAT TO BUILD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83D9B-CE31-40FC-B331-1321CF98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096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F8FB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F5F8FB"/>
                </a:solidFill>
                <a:latin typeface="Georgia"/>
                <a:ea typeface="Georgia"/>
                <a:cs typeface="Georgia"/>
              </a:rPr>
              <a:t>Your first workflow should save time or create money.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3E07A-920B-4C0E-B42D-191186A1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4191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435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08431-50F0-4A66-A4A1-9AC84829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Client intake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92808-B85D-4FF9-927B-10DBCC46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6B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4A6B8"/>
                </a:solidFill>
                <a:latin typeface="Avenir Next"/>
                <a:ea typeface="Avenir Next"/>
                <a:cs typeface="Avenir Next"/>
              </a:rPr>
              <a:t>Sort leads, spot missing info, draft follow-up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A98DE-BAB3-4E6A-B148-FF7B5B45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4191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435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4733B-2D5B-49D0-89B8-F611DBCA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908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Content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E9EC4-2C81-4790-ABF1-5A3011F4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71800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6B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4A6B8"/>
                </a:solidFill>
                <a:latin typeface="Avenir Next"/>
                <a:ea typeface="Avenir Next"/>
                <a:cs typeface="Avenir Next"/>
              </a:rPr>
              <a:t>Turn one idea into scripts, posts, Shorts, and thumbnails.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B006D-4BDE-4ED0-A3D1-D7233C14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191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435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0C718-2824-461F-96E8-16BB9D10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Proposal helper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9EF99C-6B12-4CA9-BA5E-CEDA5093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6B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4A6B8"/>
                </a:solidFill>
                <a:latin typeface="Avenir Next"/>
                <a:ea typeface="Avenir Next"/>
                <a:cs typeface="Avenir Next"/>
              </a:rPr>
              <a:t>Turn a messy brief into scope, risk, timeline, and pricing notes.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1DB50A-F658-4E02-A67B-DD91E407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191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435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51B1A-5BCE-44CA-9FD4-7194964A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00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Knowledge assistant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A5D53-D9E7-44E4-9FC9-55B80655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91050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6B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4A6B8"/>
                </a:solidFill>
                <a:latin typeface="Avenir Next"/>
                <a:ea typeface="Avenir Next"/>
                <a:cs typeface="Avenir Next"/>
              </a:rPr>
              <a:t>Answer from docs, SOPs, past work, or business files.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EDE8C7-C628-4321-9793-F57B838C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- Video Package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C2B913-06B0-46FA-8F0B-C794FCD9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189101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C20C4B-473F-4639-86BB-67E1A92A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F71F3-9499-48A9-BAC6-CB4E6D5F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143000"/>
            <a:ext cx="4762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E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AC16E-0B3E-47D2-B498-B652CB53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7B17D-5BA0-4B72-A9A0-F1EDB14D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A8644D2-D82B-4C6B-AD8A-DDE8D174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THE 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04AA2-86FE-4E59-9CBD-15EBC3E0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572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F8FB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F5F8FB"/>
                </a:solidFill>
                <a:latin typeface="Georgia"/>
                <a:ea typeface="Georgia"/>
                <a:cs typeface="Georgia"/>
              </a:rPr>
              <a:t>Monarc University teaches the workflow behind the tool.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EF5CD-171A-4655-8AD0-AEB54CC7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219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435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A728B-911A-440D-937B-D5D1F740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EE404-F487-4B2E-8A73-D0D475A7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AI 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9F9C0-7B43-4184-81E9-958FB218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28950"/>
            <a:ext cx="1219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448"/>
          </a:solidFill>
          <a:ln xmlns:a="http://schemas.openxmlformats.org/drawingml/2006/main" w="19050">
            <a:solidFill>
              <a:srgbClr val="00A6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5C284-A3A9-4B31-9AAC-E3F7849F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385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72065-ABDC-47F2-93C4-2DE511DD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3855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Prompt systems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9A2FE-C843-426D-A5BA-4C75338F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28950"/>
            <a:ext cx="1219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435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4B6E9-ABE1-4103-8E9F-53E955D8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9F7123-9AF0-4AB7-BF2A-762D4FC4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3855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APIs and apps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4178B-CB1B-4B1F-810A-26FBA839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28950"/>
            <a:ext cx="1219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435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1FA4A-2B65-4941-ABC2-F8554411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9FB16-993F-4901-AFE9-2AC7B8B4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3855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RAG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096F8-E319-4B0F-AF88-75B69620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28950"/>
            <a:ext cx="1219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435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BC899B-C479-4B77-B802-CBAED7D2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C1C5CA-9DF1-4E09-85C4-C7AAC7DD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3855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Agents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3321D6-9463-4D92-9BC1-6DE9FC3B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1219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2435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FC81DA-0C84-4A72-AB48-4F586796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385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44FCD2-10B9-49FB-A609-4D2EAD38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3855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Capstone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5B0217-3F6F-4A09-A914-C5CBC041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10150"/>
            <a:ext cx="819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The course is not “here are prompts.” It is “here is how to think, design, build, and ship with AI.”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FF310E-39B3-4E9A-9058-2A4A3237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- Video Package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9E2C46-BD64-4943-ADAD-BA914B78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335577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69D78A-3FCE-4998-9AA4-A23BE968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9F7B4-ABE8-4338-A810-B6798EB2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143000"/>
            <a:ext cx="4762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E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E3E09-E4BA-42CA-887E-FE59F2B5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AA72F-4355-4516-85B7-1E120338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C22A5D4-D969-4EF2-8DC4-0997F5F4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CALL TO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66651-5EB5-41DE-8424-932748E4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7239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5F8FB"/>
                </a:solidFill>
                <a:latin typeface="Georgia"/>
                <a:ea typeface="Georgia"/>
                <a:cs typeface="Georgia"/>
              </a:defRPr>
            </a:pPr>
            <a:r>
              <a:rPr sz="4050" b="1">
                <a:solidFill>
                  <a:srgbClr val="F5F8FB"/>
                </a:solidFill>
                <a:latin typeface="Georgia"/>
                <a:ea typeface="Georgia"/>
                <a:cs typeface="Georgia"/>
              </a:rPr>
              <a:t>Apply if you want the guided version.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4E12B-E007-415A-BCE0-ADBFE56E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4A6B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94A6B8"/>
                </a:solidFill>
                <a:latin typeface="Avenir Next"/>
                <a:ea typeface="Avenir Next"/>
                <a:cs typeface="Avenir Next"/>
              </a:rPr>
              <a:t>If you are tired of guessing what to learn next, Monarc University gives you the roadmap, the labs, the projects, and the capstone.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54C59-470A-4019-B231-0D746254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1663B-8377-47D4-B4A9-7B2B9296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657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8FB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5F8FB"/>
                </a:solidFill>
                <a:latin typeface="Avenir Next"/>
                <a:ea typeface="Avenir Next"/>
                <a:cs typeface="Avenir Next"/>
              </a:rPr>
              <a:t>Apply for the founding cohort at monarcmade.com/university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3142E-4CDB-4BC1-A057-1F34B581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00200"/>
            <a:ext cx="27051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72291-A87E-4E2C-BE4C-72997442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240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CTA 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BC275-D835-480F-BED1-AC0867E1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241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6435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A744E-729A-410E-B32E-30B902A7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Apply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80CF9-D726-4720-9730-72DC340D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643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192F7-CFA1-4ABA-AA49-29ACF876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67025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Build a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720751-4FBD-4DA6-8CF6-ECC3AE3B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385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643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70A136-8E48-4859-A241-59E1CACF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24225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Ship a capstone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E77352-7BC4-48E3-8295-FDDB09CF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- Video Package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72660-14FA-4F7D-81B6-483AC91B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933718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2026-05-06T21:45:13.6200000Z</dcterms:created>
  <dcterms:modified xsi:type="dcterms:W3CDTF">2026-05-06T21:45:13.6210000Z</dcterms:modified>
</coreProperties>
</file>