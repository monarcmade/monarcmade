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cc2c9f78004daa" /><Relationship Type="http://schemas.openxmlformats.org/officeDocument/2006/relationships/extended-properties" Target="/docProps/app.xml" Id="Rbe7f28cae6464277" /><Relationship Type="http://schemas.openxmlformats.org/officeDocument/2006/relationships/officeDocument" Target="/ppt/presentation.xml" Id="Rec455652d67b41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a42a718eba4da1"/>
  </p:sldMasterIdLst>
  <p:notesMasterIdLst>
    <p:notesMasterId xmlns:r="http://schemas.openxmlformats.org/officeDocument/2006/relationships" r:id="Rf8ddf742cd91403a"/>
  </p:notesMasterIdLst>
  <p:sldIdLst>
    <p:sldId xmlns:r="http://schemas.openxmlformats.org/officeDocument/2006/relationships" id="256" r:id="R2cc8a829336f460e"/>
    <p:sldId xmlns:r="http://schemas.openxmlformats.org/officeDocument/2006/relationships" id="257" r:id="Ree3406cb81b34173"/>
    <p:sldId xmlns:r="http://schemas.openxmlformats.org/officeDocument/2006/relationships" id="258" r:id="R5d97d37b45354c37"/>
    <p:sldId xmlns:r="http://schemas.openxmlformats.org/officeDocument/2006/relationships" id="259" r:id="R086f2c7b27bf4d2f"/>
    <p:sldId xmlns:r="http://schemas.openxmlformats.org/officeDocument/2006/relationships" id="260" r:id="Re9a441e9aa484124"/>
    <p:sldId xmlns:r="http://schemas.openxmlformats.org/officeDocument/2006/relationships" id="261" r:id="Rccde02bffcd74289"/>
    <p:sldId xmlns:r="http://schemas.openxmlformats.org/officeDocument/2006/relationships" id="262" r:id="R2f13f9e7a4494dfe"/>
    <p:sldId xmlns:r="http://schemas.openxmlformats.org/officeDocument/2006/relationships" id="263" r:id="Rde8ac65c604f43de"/>
    <p:sldId xmlns:r="http://schemas.openxmlformats.org/officeDocument/2006/relationships" id="264" r:id="R369aed654fcd452b"/>
    <p:sldId xmlns:r="http://schemas.openxmlformats.org/officeDocument/2006/relationships" id="265" r:id="R0669c5662f93474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a42a718eba4da1" /><Relationship Type="http://schemas.openxmlformats.org/officeDocument/2006/relationships/theme" Target="/ppt/theme/theme1.xml" Id="R818240eaaac84209" /><Relationship Type="http://schemas.openxmlformats.org/officeDocument/2006/relationships/notesMaster" Target="/ppt/notesMasters/notesMaster1.xml" Id="Rf8ddf742cd91403a" /><Relationship Type="http://schemas.openxmlformats.org/officeDocument/2006/relationships/presProps" Target="/ppt/presProps.xml" Id="R589bea2f05674ae5" /><Relationship Type="http://schemas.openxmlformats.org/officeDocument/2006/relationships/viewProps" Target="/ppt/viewProps.xml" Id="Rf1f8ccb1640043cd" /><Relationship Type="http://schemas.openxmlformats.org/officeDocument/2006/relationships/tableStyles" Target="/ppt/tableStyles.xml" Id="R4ae48255a99646bf" /><Relationship Type="http://schemas.openxmlformats.org/officeDocument/2006/relationships/slide" Target="/ppt/slides/slide1.xml" Id="R2cc8a829336f460e" /><Relationship Type="http://schemas.openxmlformats.org/officeDocument/2006/relationships/slide" Target="/ppt/slides/slide2.xml" Id="Ree3406cb81b34173" /><Relationship Type="http://schemas.openxmlformats.org/officeDocument/2006/relationships/slide" Target="/ppt/slides/slide3.xml" Id="R5d97d37b45354c37" /><Relationship Type="http://schemas.openxmlformats.org/officeDocument/2006/relationships/slide" Target="/ppt/slides/slide4.xml" Id="R086f2c7b27bf4d2f" /><Relationship Type="http://schemas.openxmlformats.org/officeDocument/2006/relationships/slide" Target="/ppt/slides/slide5.xml" Id="Re9a441e9aa484124" /><Relationship Type="http://schemas.openxmlformats.org/officeDocument/2006/relationships/slide" Target="/ppt/slides/slide6.xml" Id="Rccde02bffcd74289" /><Relationship Type="http://schemas.openxmlformats.org/officeDocument/2006/relationships/slide" Target="/ppt/slides/slide7.xml" Id="R2f13f9e7a4494dfe" /><Relationship Type="http://schemas.openxmlformats.org/officeDocument/2006/relationships/slide" Target="/ppt/slides/slide8.xml" Id="Rde8ac65c604f43de" /><Relationship Type="http://schemas.openxmlformats.org/officeDocument/2006/relationships/slide" Target="/ppt/slides/slide9.xml" Id="R369aed654fcd452b" /><Relationship Type="http://schemas.openxmlformats.org/officeDocument/2006/relationships/slide" Target="/ppt/slides/slide10.xml" Id="R0669c5662f9347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cca09e856fd44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c9c9dbdf2b4513" /><Relationship Type="http://schemas.openxmlformats.org/officeDocument/2006/relationships/notesMaster" Target="/ppt/notesMasters/notesMaster1.xml" Id="R7e46c095836a4b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6ec3f3dc64d77" /><Relationship Type="http://schemas.openxmlformats.org/officeDocument/2006/relationships/notesMaster" Target="/ppt/notesMasters/notesMaster1.xml" Id="R5469153e76d04b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231fa2de7741f9" /><Relationship Type="http://schemas.openxmlformats.org/officeDocument/2006/relationships/notesMaster" Target="/ppt/notesMasters/notesMaster1.xml" Id="R53a5571d192845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cb93d0b0d254edb" /><Relationship Type="http://schemas.openxmlformats.org/officeDocument/2006/relationships/notesMaster" Target="/ppt/notesMasters/notesMaster1.xml" Id="R9c3814f66efc49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9e24a93eb24417" /><Relationship Type="http://schemas.openxmlformats.org/officeDocument/2006/relationships/notesMaster" Target="/ppt/notesMasters/notesMaster1.xml" Id="Rdab35c1cf9fd41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136e1681ca4a4f" /><Relationship Type="http://schemas.openxmlformats.org/officeDocument/2006/relationships/notesMaster" Target="/ppt/notesMasters/notesMaster1.xml" Id="R9d732ebb69fb4d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a8063d5e9c4da2" /><Relationship Type="http://schemas.openxmlformats.org/officeDocument/2006/relationships/notesMaster" Target="/ppt/notesMasters/notesMaster1.xml" Id="Rdec2b2c646a9478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3251ee002b14311" /><Relationship Type="http://schemas.openxmlformats.org/officeDocument/2006/relationships/notesMaster" Target="/ppt/notesMasters/notesMaster1.xml" Id="R96105f1463a440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8dcdfe979046f7" /><Relationship Type="http://schemas.openxmlformats.org/officeDocument/2006/relationships/notesMaster" Target="/ppt/notesMasters/notesMaster1.xml" Id="R7314678fbe114a2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cb6a20469e4460" /><Relationship Type="http://schemas.openxmlformats.org/officeDocument/2006/relationships/notesMaster" Target="/ppt/notesMasters/notesMaster1.xml" Id="R485a7444f9f84b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b55adf02241e0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69e9a4d15664dfe" /><Relationship Type="http://schemas.openxmlformats.org/officeDocument/2006/relationships/slideLayout" Target="/ppt/slideLayouts/slideLayout2.xml" Id="R0a4c5a0df0464c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4c5a0df0464c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27f54d8a4094340" /><Relationship Type="http://schemas.openxmlformats.org/officeDocument/2006/relationships/notesSlide" Target="/ppt/notesSlides/notesSlide1.xml" Id="R76718e6a756b4b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ea0ba723624641" /><Relationship Type="http://schemas.openxmlformats.org/officeDocument/2006/relationships/notesSlide" Target="/ppt/notesSlides/notesSlide2.xml" Id="Ra025160f983b47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0e467c119406e" /><Relationship Type="http://schemas.openxmlformats.org/officeDocument/2006/relationships/notesSlide" Target="/ppt/notesSlides/notesSlide3.xml" Id="Rd4d059c1c0e94b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46097a280f420b" /><Relationship Type="http://schemas.openxmlformats.org/officeDocument/2006/relationships/notesSlide" Target="/ppt/notesSlides/notesSlide4.xml" Id="R32bc1dccf7024c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924202b2ce42d4" /><Relationship Type="http://schemas.openxmlformats.org/officeDocument/2006/relationships/notesSlide" Target="/ppt/notesSlides/notesSlide5.xml" Id="Rc5748c197f32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df9e7460004a2b" /><Relationship Type="http://schemas.openxmlformats.org/officeDocument/2006/relationships/notesSlide" Target="/ppt/notesSlides/notesSlide6.xml" Id="R9b0a02d45f3248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959d82ca4ef49e8" /><Relationship Type="http://schemas.openxmlformats.org/officeDocument/2006/relationships/notesSlide" Target="/ppt/notesSlides/notesSlide7.xml" Id="R2c68057ee94f40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bc03ed1f4014401" /><Relationship Type="http://schemas.openxmlformats.org/officeDocument/2006/relationships/notesSlide" Target="/ppt/notesSlides/notesSlide8.xml" Id="R536620eeacc348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fc778bd3a4ae8" /><Relationship Type="http://schemas.openxmlformats.org/officeDocument/2006/relationships/notesSlide" Target="/ppt/notesSlides/notesSlide9.xml" Id="R5e4cb62eb611440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13238c2ca04756" /><Relationship Type="http://schemas.openxmlformats.org/officeDocument/2006/relationships/notesSlide" Target="/ppt/notesSlides/notesSlide10.xml" Id="Rfe448e318b374a1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AC8DAE-31BF-47F3-91CE-DFDF579BF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92578B-5792-41F3-9CD8-EEBD6472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F8A90E-8B48-4682-8068-60627C1C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642D2-4C91-4975-9EA5-E795DB21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A7B7F35-3454-4B9C-9AED-B8DBD210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MONARC UNIVERSITY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B139B-FA13-4447-9F28-17AE1CBF6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23900"/>
            <a:ext cx="3429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723C5-FA84-43B5-91C6-7AA4FF67A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096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FIRST VIDEO PACKAGE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2062F-3993-47D1-97A1-1FE8B022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666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42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How I’d learn AI from zero in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D4817-74F7-4701-97BE-51DBBFCF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29000"/>
            <a:ext cx="609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A 7-minute sales video that teaches first, then invites beginners into the first cohort.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EDF923-5E2C-4C2D-8A6C-F004E4DE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28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5814DC-C576-4C43-9569-A0FB13E5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14475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Target length: 6-8 min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182B5-C7FC-4F31-9256-6E7E4745B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1AE325-24D2-436D-8B86-D05FD01E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71675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Offer: first cohort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F97A0-FC7B-4F34-AF21-25CCC914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43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643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5F680-55E2-4D91-9FE4-BC330DF9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28875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CTA: join waitlist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3E73D-9287-499C-808C-97A62B0C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47DDB7-51A3-4FDE-8B6B-6352D43B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581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Position the course as a roadmap for beginners who want practical AI skills, not hype.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9670A7-9871-4783-9E9B-CF2AAF835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C00DBB-7B43-4BEE-A041-D48F5D4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C7D66D-CA86-4C18-8FA1-574D728B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Open with the audience pain. Tell them this is the roadmap you wish you had if starting from zero today.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26BFB-D01A-485F-9B11-FE02627D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C71D65-4A11-48DD-A50C-E1997DE5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332800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908EF9-A044-41BD-820A-C44C4528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F921E-6690-465D-BD8F-920A947A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D27DC-FB18-4316-AB0A-EB47380E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52539-7CEA-4ECF-BD1F-8CCDD1AF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A0BAD4-87EA-46A0-B442-3D9AEA8F1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4CBA8-DC04-4A91-B45C-BFB2D90F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Beginners are not lazy. They are overloaded.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FD3F9-EC8A-4606-A376-A7ADB5BF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Most AI advice jumps between tools, trends, and hype. Monarc University wins by giving people the order of operations.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A51D6-D631-4732-B320-FE7ACA23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A85E-DBCF-42C4-83D8-A98065A5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C3E5D4-A9F7-4856-A3C3-638F3A799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Too many tools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F0C45-95E3-406A-8E6C-2ECA19B7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90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1DC45-9376-4CC2-911B-ED45B5B8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600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76D28E-E257-4FEC-BD57-508EB716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No learning order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448CC-8C9E-4FCD-89A1-9DBFFBBC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90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D51739-C4E5-4049-9767-3442F499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600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40AE54-46D8-4CE6-B781-C333EDB0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No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5113F7-20B0-422B-8CAB-9A8AA617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70215-3902-4DE5-B371-3E19C560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00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66B0AF-C65E-4D35-8C54-D7C5CAE6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No confidence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AD62E7-97F2-426C-8096-36893AF7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1619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D9B8F4-5901-4200-9A48-B9CCBCDB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004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C3C5D-A0F5-49CD-A533-5B44D45A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0050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No business use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5ADDCD-2B87-4DD4-9169-AD6DFE6D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666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The video hook: “If AI feels confusing, it is probably because you learned it in the wrong order.”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5E767E-2C14-45AA-95D8-EB9009DB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8157DA-8FCD-47E4-8C25-25189BC0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E6A055-9A82-4BFD-B011-66541BA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Say: If you feel behind, the problem is not you. The problem is that nobody gave you a clean path.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33047C-B24F-4420-A802-41B75A4D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EEF8E0-4EE0-4C14-93FE-8F486764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012339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4F5CD3-F9CD-4330-8B46-E21A133CA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A2C8F-DDA0-41F1-B670-64A327C2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84DD9E-39C9-4757-9B38-29A60D07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D0A672-EF83-4502-B95A-3CBADB14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B0D19DD-4B51-4FC2-B005-5571BDCC7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THE PROMISE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37194-A99B-4903-AB80-18F50468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The transformation is practical AI confidence.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0F7A24-EC14-428D-9DEA-80216DFF3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Position the course around outcomes a beginner can feel: save time, build small automations, understand agents, and ship useful projects.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E4FBD-74E9-4345-9079-AB83E27C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0F16"/>
          </a:solidFill>
          <a:ln xmlns:a="http://schemas.openxmlformats.org/drawingml/2006/main" w="9525">
            <a:solidFill>
              <a:srgbClr val="55303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731F9C-0AD9-4C8E-A917-ABABBDDC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43250"/>
            <a:ext cx="4095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727AE-356E-4F4D-9515-85BC9F43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29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262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6262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4DADD6-56EE-4EA1-9919-25D8D90D3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24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Prompt guessing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F2299D-9A7D-41EA-975D-25AF2744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9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Tool hopping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11EB1A-2C2E-43E3-932F-9363A9E9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149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AI feels random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027088-C0D6-42CC-AFFE-7874A169C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290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6D98B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66D98B"/>
                </a:solidFill>
                <a:latin typeface="Avenir Next"/>
                <a:ea typeface="Avenir Next"/>
                <a:cs typeface="Avenir Next"/>
              </a:rPr>
              <a:t>After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38D86B-8093-4A2A-9CDA-AF5F78DB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Clear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6C3231-7197-4F55-B902-BB56530F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196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Useful projects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51DCF-6964-430D-86C5-8CB328A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1490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AI becomes a skill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1E4D82-7D82-4B59-AE56-514C1A4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609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Course promise: learn the repeatable workflow behind useful AI systems.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4844CD-334C-46CF-86DC-C6B83648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4A8CFD-FE4A-4F48-82C8-AF8E8E23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35F989-E2F0-46AC-8167-AD43E84F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This is where Monarc University starts sounding valuable without sounding salesy.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952A73-B9B2-4F0F-BD3C-EACE12B6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548C6B-A2AA-4C43-9F4A-D4F8037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264543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789B67-7771-446D-B9A5-BE58FE9F2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84A590-1C2B-4274-98B5-7CB97715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AECDA-2876-4155-8784-A4694ED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9A9164-B809-4E41-A668-B80E48E8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84F7B7-F8CF-4D97-8498-4B411240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239C8A-CCBB-4DFD-A268-3E213629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Teach AI in five stages, not fifty tabs.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AE918-ADE0-4274-BEE2-D7CE52974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A beginner-friendly path that becomes the structure of the video and the course.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FDAF1-D824-4F64-B167-57A2F68DC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33375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C17D4-9044-4F9F-A951-9C442FB3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ED8611-A1F3-4FB3-9686-3FA7B6C7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1718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Prompting basics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47B5A-2C41-4209-A052-0AE42BEC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90950"/>
            <a:ext cx="2152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C2910-F858-4C09-A0B0-EDC8F8FC4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671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84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6A84A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E52599-F8B0-4B56-AB68-CADF4961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290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Workflows &amp; context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70DC07-19B8-4CC0-B55D-8DA0488C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48150"/>
            <a:ext cx="3352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39575-CADA-4E74-8685-F6D78E9C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243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D2F158-558F-4B8F-8760-1BDC9E0D7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862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Automations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380B58-8A2E-4F8F-8C60-2047CA3C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705350"/>
            <a:ext cx="4552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A5702-D297-48EB-838C-7C432FFB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815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6A84A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D6A84A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7C07E-52F7-430B-9F88-EC942C62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434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Agents &amp; tools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B0FA5-C6D3-4444-BD60-21F4BA29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62550"/>
            <a:ext cx="57531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2AA2CA-8CD0-41E6-9115-ECE380759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400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12F5DB-5BA1-4A6D-A747-56BE1F7B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000625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Projects that sell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6ECF38-8498-45C1-9D14-97C9366B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57500"/>
            <a:ext cx="285750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B8D75C-37E5-4480-9444-6070E265B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MONARC UNIVERSITY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E12665-C704-46D0-BD5A-9EA6BB6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24250"/>
            <a:ext cx="2095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Beginner track → builder track → paid implementation confidence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197E9B-EA16-434C-8071-E18B0C50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80CB34-1380-445C-A32A-F268D7EE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D2D7A-4B4A-446C-8431-54D64ED8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Walk through the five stages quickly. Make the viewer feel relief: finally, there is a sequence.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2EBBA4-9F28-431A-B02F-313842A2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838F37-2426-47A9-B07F-922D005F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6496047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3446EB-CB0E-4594-8006-25DD924EE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2619C-FA3F-47BE-9EA2-FC824440E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B8FD-95BE-4BF4-ABDA-BEAC9302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A2217-9BBA-47AF-827A-824925AB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BB01B02-9008-4523-9688-28C66D9F0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VIDEO FLOW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70FDF3-1073-4329-BF3D-E04EA84E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0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Teach for six minutes. Sell for thirty seconds.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F23444-A06E-4671-84A5-32EEDE2FB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47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Retention comes from useful sequencing. The pitch works because the viewer already got value.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CC829-C0E0-49D7-A0C9-5C8A060A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69094-DE11-4C1D-BAC1-97047922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6A84A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D6A84A"/>
                </a:solidFill>
                <a:latin typeface="Georgia"/>
                <a:ea typeface="Georgia"/>
                <a:cs typeface="Georgia"/>
              </a:rPr>
              <a:t>0:00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ADF12-7FD2-4442-8DE0-4801881A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457C7-FD3D-46BA-A5CD-138CA142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062B9C-06BE-435E-A1EB-75D8D28E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0:30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3F456-6666-4CA3-B5F9-325DCAB5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credibility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660DF-AE20-4683-B5BD-2946CB0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7F1E5E-D4EB-4E0C-BEA8-48998322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1:15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1E492D-22DF-47D2-9500-4AE288405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roadmap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AE1E95-D585-4508-9D8B-E1025F13B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6885B1-7D83-4F53-A060-E9F05337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3:30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2E9F0F-B895-4DD8-B21E-72E1002F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examples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C9C54-2854-49A4-85A1-26FBCB5F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34BF84-F33C-4AB2-917F-AECC9CC2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5:45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907FD7-8A09-4D7A-91FD-37EEBA82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mistakes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0C47A9-4535-4AD4-BD4E-A6766CB4E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33750"/>
            <a:ext cx="13525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648E3-C090-446A-9E19-4249CE3C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5623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A6D6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00A6D6"/>
                </a:solidFill>
                <a:latin typeface="Georgia"/>
                <a:ea typeface="Georgia"/>
                <a:cs typeface="Georgia"/>
              </a:rPr>
              <a:t>6:30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195B0C-5EFF-4B8E-B560-A89FEB60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43350"/>
            <a:ext cx="857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FFB765-7E69-42D4-900A-2001F7A3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Retention rule: no long intro, no “what’s up guys” ramble, no pitch before value.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6194B-D77C-4886-BE5E-EBC45D3B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1EE2D5-A11F-4C1A-A11E-89187CD3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75B9A-17A6-4EFA-9511-030F0D19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Use this as the recording structure. Do not over-explain. Keep momentum.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4FDA48C-E6D0-4122-8495-F2C768D4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373715-413D-4BC3-8916-EB41A81E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20194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22595-9222-4CFD-A3B1-1AB91E06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346A-6FF1-4826-A5BE-513D30BB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4A798-805D-4B94-B6E9-6D0CFAA4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689D3E-ECED-43A8-82A1-955D0598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A1B3C6C-974A-4FE3-A2A1-3DE5965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STARTER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1F64B2-0BB4-4F90-A850-D27F6B5E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Launch with simple first-cohort pricing.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DC203-8EB4-4B45-9357-24AE1C2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These are professional starter prices to validate demand. Adjust once curriculum and demand are proven.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B5CEF-63A3-4005-9BFF-0B621D0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813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7F7F4-8729-400C-B216-E858FD34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Starter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5D830-C585-4B5C-9D0D-3E3EEB88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$197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F2182-20B6-43C9-93E8-9BE67F66D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Self-paced beginner roadmap + project templates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7DF113-4A56-4FB3-8BC8-B4F80B16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1813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2B39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F123AE-3176-4C8C-86DE-42448FA7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48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Builder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2E5FA9-1F89-45A1-960B-62DE8843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$497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90F4A-D901-4925-AC85-5861909C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196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Course + live sessions + project reviews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1B962-8223-434B-83D1-12163C58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81350"/>
            <a:ext cx="285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F0480-C645-4C36-8D05-D4D3133F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4480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Founding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B4F896-1C3C-44C7-B1F9-00067EFF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7909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$997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166446-5C86-4D10-AD5E-64D8325F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19600"/>
            <a:ext cx="2209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Builder + small-group office hours + implementation help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AAC6C-DD1F-405D-B16C-5994DC2E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816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425" b="1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Starter recommendation: launch “Founding Cohort” pricing for the first 25 students.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213B2-058A-47D1-A3EC-A6D12A31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CF31C-6713-4278-88F2-C0BE2E14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F49A8-FA0D-413C-A092-31F571BF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Frame pricing as beta/founding cohort. Scarcity should be honest: limited feedback capacity, not fake urgency.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79978-1CBB-448A-8D9E-9C29B205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63F1E-803C-4452-BF7E-C05174385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547833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6BC93C-B38A-4AAA-999D-3CDD44BD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7158D-4C08-4E1D-B490-531B191D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E7BE2-E797-47E1-BFA5-B9158E06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312F8-4E61-4F15-BB05-9DD8E79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518F619-981C-465D-9D5C-BF442F263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CONTENT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258E8-BD4A-4B91-A0D1-732499AF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One YouTube video becomes a week of distribution.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8F8EE9-4DC3-4922-B024-9D6EBC06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The long-form video is the source asset. Every platform gets a native cut, not a lazy repost.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E50F7-C610-4FBF-95B9-ED73FF37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0400"/>
            <a:ext cx="2286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1927E8-F69E-40E0-9DA3-EC9965AA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29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FF9891-B7CB-40BC-A9E2-079B2EF0D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YouTube</a:t>
            </a:r>
          </a:p>
          <a:p xmlns:a="http://schemas.openxmlformats.org/drawingml/2006/main">
            <a:pPr algn="l">
              <a:defRPr sz="25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25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CDEDF-5869-4293-BF5A-9655163C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908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C5B55A-EF4D-453C-B0E7-5BAC9AD0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3 Shorts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017098-B768-452A-A7F4-D9E673D4C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0F9327-C882-4383-92E2-F43E8253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200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LinkedIn lesson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AC20B-F8CF-45B1-BCD7-82665AC6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77BE3-223C-4E20-8044-F77CE56B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04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IG carousel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A13D62-2E20-406A-9C8F-FEEC76FD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0576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3901C-D583-46C5-A6DF-D60FAF70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Email invite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377D78-B9F8-4453-8A53-751BD37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57650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A24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CAEF5B-CF29-4C7E-A1EF-366DD01D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672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Blog recap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3171AC-35ED-4DCE-B4F9-8E09D388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871451-1E96-4BFE-A116-243FE2AF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2DDFE-8F60-48BE-958C-7226B2AD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This helps you stay consistent. Record once, repurpose deliberately.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53473-3AD9-4F46-B038-D60A87FD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06CE60-81E0-4A94-B0BD-9E878B50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503327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5F2AA4-6F70-4795-A2AC-4A3F00D5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D5AE5-0CB7-4CE0-A23F-28508559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2C8CB9-7EC3-4D7D-ACB7-0ADA2D6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2C2CA-FA1A-4B5E-ABFE-7CD8EB8D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D73032D-5102-40B9-8C58-2B36DD51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THUMBNAILS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FED17-FE46-4DB7-B126-E3E370E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Each platform needs one clear promise.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890F8-6AC2-48E5-BAC0-4950C7B43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The thumbnail should sell the result, not decorate the video. Keep text short and high contrast.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E4CAEF-8991-4DC2-BE1D-F713DB92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F28F1-378F-4DC3-84F3-C1848B6F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YouTube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30ABCC-5DFC-48E0-AFB1-A942343A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257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AI FROM ZERO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CC7843-C78F-4BC8-8D8A-88C1B85C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1242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5BD312-013E-42A5-9204-B4133172C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3337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Shorts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F23155-678F-412E-8E10-2C5F7D61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START HERE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8403AE-D8A4-4021-95C2-C84EAB9A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291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C60EBB-E54C-498D-9BF4-A0216E5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IG square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03841-84D6-4BAE-9448-6BB7E838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LEARN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1F787-66C2-4D6C-A155-79EE0DBA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229100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0C8968-A31E-4E86-B309-716F55C55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38650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750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LinkedIn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3DEFF7-26CC-42C6-AC33-3610C6A5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6245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2026 AI ROADMAP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A62F9-361F-41A4-8F62-354239F5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DE6356-4D28-4D04-9A52-EDC225E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206DF7-40C0-4C01-AF1F-0DD7C935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Use the exported PNGs as first drafts. Later we can add your face/headshot for stronger trust.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339C6B-D2D9-4961-B9B6-E53C27C3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DD8E2-1344-4118-B26E-6BD896B6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116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AAD270-275A-4A5C-8CA0-0555E876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AC623-4626-4088-9623-9B30CD3B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BB18C3-C4DA-4941-ABA1-DDB72939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518BB-9FCC-4A12-ABF7-02A8CA09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D7385A9-9A78-42D6-953F-78317B03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CTA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7B6F0-831B-4D0F-8D8C-9BE28F44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Sell the next step like an invitation.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B9C0C-7FB5-4627-8DBA-29EA4501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The CTA should sound calm and practical: if you want the roadmap, join the first cohort.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99FC-6BE9-4E11-B774-1BB8D1CC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D7867-5F2E-4055-8399-BD50AED87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480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Join the first Monarc University cohort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06CC5C-30E0-4AEA-8609-36226F7D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A4222F-FC01-46F6-A445-A9BF5D68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004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Get the AI roadmap and projects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16609-DD40-4731-90A6-DC8F9542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86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3D82DF-A723-4DAF-A2F2-5E4E9445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5290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Learn AI by building useful systems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5A1C24-C81A-41C6-9E3A-2F2D054EA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F33C4C-556A-48FB-B325-802126A1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705350"/>
            <a:ext cx="647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Start with the beginner track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EB167E-7E17-45DC-B89C-B79C5BBF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7F3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B7F3FF"/>
                </a:solidFill>
                <a:latin typeface="Avenir Next"/>
                <a:ea typeface="Avenir Next"/>
                <a:cs typeface="Avenir Next"/>
              </a:rPr>
              <a:t>On video: “If you want the full roadmap, projects, and live help, I’m opening the first Monarc University cohort.”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5FDFA0-7772-43B0-B844-D50F917D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C80965-F8F7-4D42-A97C-E7BD5A41F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15B8DD-B2A2-4968-B54D-7BD1B8FA2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End with confidence. Do not apologize for selling. You gave value; now invite them.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39D765-5CB8-4F59-B344-8448EBCF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65440-391E-40B5-9A69-BAE5D786D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8331160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8A2EE2-3799-45BC-BDD9-CFFCC516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68A287-894F-48E9-9AB3-91C784779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-1143000"/>
            <a:ext cx="4953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30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03907-AE0D-4C11-8EBB-A2AAADCC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43000" y="4953000"/>
            <a:ext cx="4000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4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3BBDBD-16DE-4846-A250-690D4B71D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6A141F-D224-4545-9552-0D5B63ED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625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NEXT 7 DAYS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97433-85B6-44E0-B74A-F8464F9F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42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8FB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F4F8FB"/>
                </a:solidFill>
                <a:latin typeface="Georgia"/>
                <a:ea typeface="Georgia"/>
                <a:cs typeface="Georgia"/>
              </a:rPr>
              <a:t>Publish, measure, then improve the offer.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3663BE-248C-4396-9B1E-EF1EB5C8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191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The goal is not perfection. The goal is a first signal: views, comments, replies, email signups, and course interest.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A331B-C04A-4F85-9233-ABFC112E1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2A771-8B2D-430A-BC71-3B793DD1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3703EF-E0C1-49E9-8F7A-E98A70FA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384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Restart site and confirm /blog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46AE39-BA03-413D-8C1B-8867B211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670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ABB8CB-55ED-4C63-B327-8A6F3494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0861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022DF-BA52-47C4-9A44-FE3AACFD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0384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Record video from this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DB864C-BEA3-4046-B611-88982E98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52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F1ADE5-A5C2-4724-BCA3-12A0E971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80D4C-8D10-4C8D-A2E5-5BA67898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242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Post YouTube + 3 Shorts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5AE13B-3EA7-465B-83AC-DD90A7B5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528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97CCAC-3CC4-4831-BA1F-25AE9C38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7719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CECA7-FD68-4687-9771-5481FBB1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242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Link to Monarc University waitlist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BF077D-9BF6-4216-A4E3-8F7B1AB4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BB900-E492-4A60-82D9-539019AC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57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47D0B-23CD-4307-9517-0DE5FDD2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100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Track comments and 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7C3315-4621-4568-ABAD-E79D9E39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19050">
            <a:solidFill>
              <a:srgbClr val="00A6D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E0EDF9-2619-4127-87CA-ACFD3E4C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4577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0A6D6"/>
                </a:solidFill>
                <a:latin typeface="Avenir Next"/>
                <a:ea typeface="Avenir Next"/>
                <a:cs typeface="Avenir Next"/>
              </a:rPr>
              <a:t>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A4E128-FC38-42CC-82B1-84016C020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10075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8FB"/>
                </a:solidFill>
                <a:latin typeface="Avenir Next"/>
                <a:ea typeface="Avenir Next"/>
                <a:cs typeface="Avenir Next"/>
              </a:rPr>
              <a:t>Use questions for video #2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F4677-43CE-4CFB-9740-F63AB99B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57750"/>
            <a:ext cx="30289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532"/>
          </a:solidFill>
          <a:ln xmlns:a="http://schemas.openxmlformats.org/drawingml/2006/main" w="9525">
            <a:solidFill>
              <a:srgbClr val="1B53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A90A4F-4124-4026-B755-0BE150861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029200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D6A84A"/>
                </a:solidFill>
                <a:latin typeface="Avenir Next"/>
                <a:ea typeface="Avenir Next"/>
                <a:cs typeface="Avenir Next"/>
              </a:rPr>
              <a:t>SPEAKER NOTE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D1BC85-C9F9-43B3-B226-74A8AE5B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38750"/>
            <a:ext cx="2552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5A7B8"/>
                </a:solidFill>
                <a:latin typeface="Avenir Next"/>
                <a:ea typeface="Avenir Next"/>
                <a:cs typeface="Avenir Next"/>
              </a:rPr>
              <a:t>This is the action slide. After publishing, the audience tells you what lesson to make next.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B48039-7935-4FA0-968A-60997D1E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675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Monarc University launch kit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08C238-28A2-4329-8EB9-2736396E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143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defRPr>
            </a:pPr>
            <a:r>
              <a:rPr sz="750" b="0">
                <a:solidFill>
                  <a:srgbClr val="607080"/>
                </a:solidFill>
                <a:latin typeface="Avenir Next"/>
                <a:ea typeface="Avenir Next"/>
                <a:cs typeface="Avenir Nex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22014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2026-05-06T19:40:45.9060000Z</dcterms:created>
  <dcterms:modified xsi:type="dcterms:W3CDTF">2026-05-06T19:40:45.9060000Z</dcterms:modified>
</coreProperties>
</file>